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474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970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投資家向けピッチデック 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0C0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神戸</a:t>
            </a:r>
            <a:endParaRPr lang="en-US" sz="62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立ち飲みマップ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AIチャットで「今夜どこ行く？」に答える 神戸三宮・元町エリア 立ち飲み発見サービス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246120"/>
            <a:ext cx="731520" cy="50292"/>
          </a:xfrm>
          <a:prstGeom prst="rect">
            <a:avLst/>
          </a:prstGeom>
          <a:solidFill>
            <a:srgbClr val="C8970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429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立ち飲み文化をテクノロジーでアップデート。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地元住民からインバウンド観光客まで、神戸の夜を案内するAIガイド。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4663440"/>
            <a:ext cx="3840480" cy="502920"/>
          </a:xfrm>
          <a:prstGeom prst="roundRect">
            <a:avLst>
              <a:gd name="adj" fmla="val 21818"/>
            </a:avLst>
          </a:prstGeom>
          <a:solidFill>
            <a:srgbClr val="0D1B2A"/>
          </a:solidFill>
          <a:ln w="9525">
            <a:solidFill>
              <a:srgbClr val="C897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6634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97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kobe-guide.vercel.app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0" y="1371600"/>
            <a:ext cx="41148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FFFFFF">
                    <a:alpha val="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KOBE</a:t>
            </a:r>
            <a:endParaRPr lang="en-US" sz="13000" dirty="0"/>
          </a:p>
        </p:txBody>
      </p:sp>
      <p:sp>
        <p:nvSpPr>
          <p:cNvPr id="12" name="Text 10"/>
          <p:cNvSpPr/>
          <p:nvPr/>
        </p:nvSpPr>
        <p:spPr>
          <a:xfrm>
            <a:off x="10972800" y="64922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11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474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970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神戸の「立ち飲み文化」は</a:t>
            </a:r>
            <a:endParaRPr lang="en-US" sz="2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まだ誰にも届いていない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731520" cy="50292"/>
          </a:xfrm>
          <a:prstGeom prst="rect">
            <a:avLst/>
          </a:prstGeom>
          <a:solidFill>
            <a:srgbClr val="C8970A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2011680"/>
            <a:ext cx="3703320" cy="4389120"/>
          </a:xfrm>
          <a:prstGeom prst="roundRect">
            <a:avLst>
              <a:gd name="adj" fmla="val 2963"/>
            </a:avLst>
          </a:prstGeom>
          <a:solidFill>
            <a:srgbClr val="0A1520"/>
          </a:solidFill>
          <a:ln w="9525">
            <a:solidFill>
              <a:srgbClr val="1A2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24028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C0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[ 1 ]  情報が散在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33375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神戸の立ち飲み情報はSNS・食べログ・口コミに分散。「今夜どこへ行けばいい？」に答えるサービスが存在しない。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51960" y="2011680"/>
            <a:ext cx="3703320" cy="4389120"/>
          </a:xfrm>
          <a:prstGeom prst="roundRect">
            <a:avLst>
              <a:gd name="adj" fmla="val 2963"/>
            </a:avLst>
          </a:prstGeom>
          <a:solidFill>
            <a:srgbClr val="0A1520"/>
          </a:solidFill>
          <a:ln w="9525">
            <a:solidFill>
              <a:srgbClr val="1A2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840" y="224028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C0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[ 2 ]  インバウンド障壁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34840" y="2834640"/>
            <a:ext cx="33375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訪日外国人は言語バリアで立ち飲み文化に入れない。看板も読めず、店員とも話せず、入口で諦める。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2011680"/>
            <a:ext cx="3703320" cy="4389120"/>
          </a:xfrm>
          <a:prstGeom prst="roundRect">
            <a:avLst>
              <a:gd name="adj" fmla="val 2963"/>
            </a:avLst>
          </a:prstGeom>
          <a:solidFill>
            <a:srgbClr val="0A1520"/>
          </a:solidFill>
          <a:ln w="9525">
            <a:solidFill>
              <a:srgbClr val="1A2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224028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C0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[ 3 ]  小規模店舗の集客難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321040" y="2834640"/>
            <a:ext cx="33375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個人経営の立ち飲み店はSNS運用に時間を割けない。広告費もかけられず、新規客の獲得手段がない。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0" y="64922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F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474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970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解決策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AIが神戸の夜の</a:t>
            </a:r>
            <a:endParaRPr lang="en-US" sz="2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「ナビゲーター」になる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731520" cy="50292"/>
          </a:xfrm>
          <a:prstGeom prst="rect">
            <a:avLst/>
          </a:prstGeom>
          <a:solidFill>
            <a:srgbClr val="C8970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2103120"/>
            <a:ext cx="502920" cy="502920"/>
          </a:xfrm>
          <a:prstGeom prst="ellipse">
            <a:avLst/>
          </a:prstGeom>
          <a:solidFill>
            <a:srgbClr val="C8970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2139696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自然言語で探せるAIチャット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43000" y="2505456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899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「予算2,000円で一人でふらっと入れる店」を会話で即座に提案。Claude Sonnet 4.6搭載。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273552"/>
            <a:ext cx="8686800" cy="18288"/>
          </a:xfrm>
          <a:prstGeom prst="rect">
            <a:avLst/>
          </a:prstGeom>
          <a:solidFill>
            <a:srgbClr val="2A3A4A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3429000"/>
            <a:ext cx="502920" cy="502920"/>
          </a:xfrm>
          <a:prstGeom prst="ellipse">
            <a:avLst/>
          </a:prstGeom>
          <a:solidFill>
            <a:srgbClr val="C8970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429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3465576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5言語対応（日・英・中・韓）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43000" y="3831336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899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送信メッセージの言語を自動検出。インバウンド旅行者が母国語でアクセスできる。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599432"/>
            <a:ext cx="8686800" cy="18288"/>
          </a:xfrm>
          <a:prstGeom prst="rect">
            <a:avLst/>
          </a:prstGeom>
          <a:solidFill>
            <a:srgbClr val="2A3A4A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4754880"/>
            <a:ext cx="502920" cy="502920"/>
          </a:xfrm>
          <a:prstGeom prst="ellipse">
            <a:avLst/>
          </a:prstGeom>
          <a:solidFill>
            <a:srgbClr val="C8970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754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43000" y="4791456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地図＋詳細フィルター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43000" y="5157216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899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エリア／予算／ソロOK／NEWなどで絞り込み。現在地からの距離表示対応。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961120" y="1280160"/>
            <a:ext cx="2926080" cy="5394960"/>
          </a:xfrm>
          <a:prstGeom prst="roundRect">
            <a:avLst>
              <a:gd name="adj" fmla="val 3750"/>
            </a:avLst>
          </a:prstGeom>
          <a:solidFill>
            <a:srgbClr val="1A1000"/>
          </a:solidFill>
          <a:ln w="9525">
            <a:solidFill>
              <a:srgbClr val="C897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0" y="164592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4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KOBE</a:t>
            </a:r>
            <a:endParaRPr lang="en-US" sz="3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34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</a:t>
            </a:r>
            <a:endParaRPr lang="en-US" sz="3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34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9052560" y="374904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「今夜どこ行く？」</a:t>
            </a:r>
            <a:endParaRPr lang="en-US" sz="1200" dirty="0"/>
          </a:p>
          <a:p>
            <a:pPr algn="ctr"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AIに聞けば、</a:t>
            </a:r>
            <a:endParaRPr lang="en-US" sz="1200" dirty="0"/>
          </a:p>
          <a:p>
            <a:pPr algn="ctr"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神戸の夜が開く。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961120" y="59893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97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kobe-guide.vercel.app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972800" y="64922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474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970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プロダクト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3つのコア機能 — シームレスな体験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731520" cy="50292"/>
          </a:xfrm>
          <a:prstGeom prst="rect">
            <a:avLst/>
          </a:prstGeom>
          <a:solidFill>
            <a:srgbClr val="C8970A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554480"/>
            <a:ext cx="3703320" cy="4846320"/>
          </a:xfrm>
          <a:prstGeom prst="roundRect">
            <a:avLst>
              <a:gd name="adj" fmla="val 2963"/>
            </a:avLst>
          </a:prstGeom>
          <a:solidFill>
            <a:srgbClr val="0A1520"/>
          </a:solidFill>
          <a:ln w="9525">
            <a:solidFill>
              <a:srgbClr val="C897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2024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C0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AIチャット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970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Sonnet 4.6搭載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3337560" cy="18288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926080"/>
            <a:ext cx="33375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会話するだけでその日の気分・人数・予算に合った店を即レコメンド。内部メモを学習したAIが的確に案内する。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51960" y="1554480"/>
            <a:ext cx="3703320" cy="4846320"/>
          </a:xfrm>
          <a:prstGeom prst="roundRect">
            <a:avLst>
              <a:gd name="adj" fmla="val 2963"/>
            </a:avLst>
          </a:prstGeom>
          <a:solidFill>
            <a:srgbClr val="0A1520"/>
          </a:solidFill>
          <a:ln w="9525">
            <a:solidFill>
              <a:srgbClr val="C897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4840" y="192024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C0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店舗一覧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434840" y="242316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970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90店舗登録済み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34840" y="2788920"/>
            <a:ext cx="3337560" cy="18288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15" name="Text 13"/>
          <p:cNvSpPr/>
          <p:nvPr/>
        </p:nvSpPr>
        <p:spPr>
          <a:xfrm>
            <a:off x="4434840" y="2926080"/>
            <a:ext cx="33375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エリア・カテゴリ・予算・ソロOK・NEWなど多彩なフィルター。リスト表示と地図表示をワンタップで切り替え。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38160" y="1554480"/>
            <a:ext cx="3703320" cy="4846320"/>
          </a:xfrm>
          <a:prstGeom prst="roundRect">
            <a:avLst>
              <a:gd name="adj" fmla="val 2963"/>
            </a:avLst>
          </a:prstGeom>
          <a:solidFill>
            <a:srgbClr val="0A1520"/>
          </a:solidFill>
          <a:ln w="9525">
            <a:solidFill>
              <a:srgbClr val="C897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192024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C0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マップビュー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21040" y="242316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970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GPS位置情報対応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321040" y="2788920"/>
            <a:ext cx="3337560" cy="18288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20" name="Text 18"/>
          <p:cNvSpPr/>
          <p:nvPr/>
        </p:nvSpPr>
        <p:spPr>
          <a:xfrm>
            <a:off x="8321040" y="2926080"/>
            <a:ext cx="33375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Leafletベースの地図に店舗ピンを表示。現在地から近い順にソート。Google Mapsリンク完備。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0" y="6537960"/>
            <a:ext cx="1216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ライブデモ:  kobe-guide.vercel.app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972800" y="64922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474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970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市場機会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巨大市場  x  ニッチ特化アプローチ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731520" cy="50292"/>
          </a:xfrm>
          <a:prstGeom prst="rect">
            <a:avLst/>
          </a:prstGeom>
          <a:solidFill>
            <a:srgbClr val="C8970A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554480"/>
            <a:ext cx="3703320" cy="2834640"/>
          </a:xfrm>
          <a:prstGeom prst="roundRect">
            <a:avLst>
              <a:gd name="adj" fmla="val 3871"/>
            </a:avLst>
          </a:prstGeom>
          <a:solidFill>
            <a:srgbClr val="1A0800"/>
          </a:solidFill>
          <a:ln w="9525">
            <a:solidFill>
              <a:srgbClr val="3D28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828800"/>
            <a:ext cx="3703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0C0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3,200万人+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5760" y="283464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神戸への年間来訪者数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32918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コロナ前ピーク（2019年）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51960" y="1554480"/>
            <a:ext cx="3703320" cy="2834640"/>
          </a:xfrm>
          <a:prstGeom prst="roundRect">
            <a:avLst>
              <a:gd name="adj" fmla="val 3871"/>
            </a:avLst>
          </a:prstGeom>
          <a:solidFill>
            <a:srgbClr val="1A0800"/>
          </a:solidFill>
          <a:ln w="9525">
            <a:solidFill>
              <a:srgbClr val="3D28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51960" y="1828800"/>
            <a:ext cx="3703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0C0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500万人+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251960" y="283464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兵庫県インバウンド観光客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51960" y="32918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年間（回復中）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38160" y="1554480"/>
            <a:ext cx="3703320" cy="2834640"/>
          </a:xfrm>
          <a:prstGeom prst="roundRect">
            <a:avLst>
              <a:gd name="adj" fmla="val 3871"/>
            </a:avLst>
          </a:prstGeom>
          <a:solidFill>
            <a:srgbClr val="1A0800"/>
          </a:solidFill>
          <a:ln w="9525">
            <a:solidFill>
              <a:srgbClr val="3D28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1828800"/>
            <a:ext cx="3703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0C0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5万店+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8138160" y="283464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全国の立ち飲み店数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38160" y="32918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神戸市内だけで200店以上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4663440"/>
            <a:ext cx="11430000" cy="1828800"/>
          </a:xfrm>
          <a:prstGeom prst="roundRect">
            <a:avLst>
              <a:gd name="adj" fmla="val 6000"/>
            </a:avLst>
          </a:prstGeom>
          <a:solidFill>
            <a:srgbClr val="1A0D00"/>
          </a:solidFill>
          <a:ln w="9525">
            <a:solidFill>
              <a:srgbClr val="C897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800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970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" y="5074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神戸フォーカス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06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三宮・元町エリア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立ち飲み特化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023360" y="52120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97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--&gt;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663440" y="4800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970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次のステップ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63440" y="5074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関西圏への展開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63440" y="54406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大阪・京都・奈良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横展開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863840" y="52120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97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--&gt;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503920" y="4800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970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将来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503920" y="5074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全国・グローバル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503920" y="54406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日本の夜遊び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ガイドプラットフォーム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972800" y="64922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474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970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ビジネスモデル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3段階の収益モデルで</a:t>
            </a:r>
            <a:endParaRPr lang="en-US" sz="2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安定した収益化を実現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731520" cy="50292"/>
          </a:xfrm>
          <a:prstGeom prst="rect">
            <a:avLst/>
          </a:prstGeom>
          <a:solidFill>
            <a:srgbClr val="C8970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2011680"/>
            <a:ext cx="7863840" cy="1143000"/>
          </a:xfrm>
          <a:prstGeom prst="roundRect">
            <a:avLst>
              <a:gd name="adj" fmla="val 9600"/>
            </a:avLst>
          </a:prstGeom>
          <a:solidFill>
            <a:srgbClr val="1A1000"/>
          </a:solidFill>
          <a:ln w="9525">
            <a:solidFill>
              <a:srgbClr val="C897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21408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970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収益1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37360" y="2103120"/>
            <a:ext cx="4572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プレミアム掲載（店舗向け）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737360" y="2514600"/>
            <a:ext cx="4572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上位表示・写真強調・バッジ・AI優先推薦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0" y="226771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0C0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月額 5,000円〜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291840"/>
            <a:ext cx="7863840" cy="1143000"/>
          </a:xfrm>
          <a:prstGeom prst="roundRect">
            <a:avLst>
              <a:gd name="adj" fmla="val 9600"/>
            </a:avLst>
          </a:prstGeom>
          <a:solidFill>
            <a:srgbClr val="0F1E2A"/>
          </a:solidFill>
          <a:ln w="9525">
            <a:solidFill>
              <a:srgbClr val="2A3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401568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970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収益2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737360" y="3383280"/>
            <a:ext cx="4572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バナー・スポット広告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737360" y="3794760"/>
            <a:ext cx="4572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チャット返答内および店舗一覧ページへのネイティブ広告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0" y="354787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0C0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月額 30,000円〜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572000"/>
            <a:ext cx="7863840" cy="1143000"/>
          </a:xfrm>
          <a:prstGeom prst="roundRect">
            <a:avLst>
              <a:gd name="adj" fmla="val 9600"/>
            </a:avLst>
          </a:prstGeom>
          <a:solidFill>
            <a:srgbClr val="0A1418"/>
          </a:solidFill>
          <a:ln w="9525">
            <a:solidFill>
              <a:srgbClr val="1A2A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681728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970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収益3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737360" y="4663440"/>
            <a:ext cx="4572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観光協会・自治体パートナー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737360" y="5074920"/>
            <a:ext cx="4572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神戸市・兵庫県観光局との共同コンテンツ制作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482803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0C0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応相談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503920" y="1280160"/>
            <a:ext cx="3474720" cy="5486400"/>
          </a:xfrm>
          <a:prstGeom prst="roundRect">
            <a:avLst>
              <a:gd name="adj" fmla="val 3158"/>
            </a:avLst>
          </a:prstGeom>
          <a:solidFill>
            <a:srgbClr val="1A1000"/>
          </a:solidFill>
          <a:ln w="9525">
            <a:solidFill>
              <a:srgbClr val="C897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95360" y="150876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899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MRR試算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899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（50店舗時）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503920" y="23317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0C0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50万円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8503920" y="3154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/ 月（想定）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778240" y="3657600"/>
            <a:ext cx="2926080" cy="27432"/>
          </a:xfrm>
          <a:prstGeom prst="rect">
            <a:avLst/>
          </a:prstGeom>
          <a:solidFill>
            <a:srgbClr val="2A2000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0" y="3840480"/>
            <a:ext cx="3108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プレミアム 50店x5千円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= 25万円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広告枠 10枠x2.5万円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= 25万円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972800" y="64922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F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474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970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進捗・トラクション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MVP完成 — 本番稼働中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731520" cy="50292"/>
          </a:xfrm>
          <a:prstGeom prst="rect">
            <a:avLst/>
          </a:prstGeom>
          <a:solidFill>
            <a:srgbClr val="C8970A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508760"/>
            <a:ext cx="3703320" cy="2834640"/>
          </a:xfrm>
          <a:prstGeom prst="roundRect">
            <a:avLst>
              <a:gd name="adj" fmla="val 3871"/>
            </a:avLst>
          </a:prstGeom>
          <a:solidFill>
            <a:srgbClr val="0A1520"/>
          </a:solidFill>
          <a:ln w="9525">
            <a:solidFill>
              <a:srgbClr val="1A2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91640"/>
            <a:ext cx="3703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65760" y="2743200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登録店舗数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3154680"/>
            <a:ext cx="3703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Google Places API</a:t>
            </a:r>
            <a:endParaRPr lang="en-US" sz="10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 AI強化データ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51960" y="1508760"/>
            <a:ext cx="3703320" cy="2834640"/>
          </a:xfrm>
          <a:prstGeom prst="roundRect">
            <a:avLst>
              <a:gd name="adj" fmla="val 3871"/>
            </a:avLst>
          </a:prstGeom>
          <a:solidFill>
            <a:srgbClr val="0A1520"/>
          </a:solidFill>
          <a:ln w="9525">
            <a:solidFill>
              <a:srgbClr val="1A2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51960" y="1691640"/>
            <a:ext cx="3703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4251960" y="2743200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対応言語数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51960" y="3154680"/>
            <a:ext cx="3703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日・英・中（繁）</a:t>
            </a:r>
            <a:endParaRPr lang="en-US" sz="10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中（簡）・韓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38160" y="1508760"/>
            <a:ext cx="3703320" cy="2834640"/>
          </a:xfrm>
          <a:prstGeom prst="roundRect">
            <a:avLst>
              <a:gd name="adj" fmla="val 3871"/>
            </a:avLst>
          </a:prstGeom>
          <a:solidFill>
            <a:srgbClr val="0A1520"/>
          </a:solidFill>
          <a:ln w="9525">
            <a:solidFill>
              <a:srgbClr val="1A2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1691640"/>
            <a:ext cx="3703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8138160" y="2743200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MVP完成度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38160" y="3154680"/>
            <a:ext cx="3703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Vercelで本番デプロイ</a:t>
            </a:r>
            <a:endParaRPr lang="en-US" sz="10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今日からデモ可能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4526280"/>
            <a:ext cx="5669280" cy="420624"/>
          </a:xfrm>
          <a:prstGeom prst="roundRect">
            <a:avLst>
              <a:gd name="adj" fmla="val 26087"/>
            </a:avLst>
          </a:prstGeom>
          <a:solidFill>
            <a:srgbClr val="0A1520"/>
          </a:solidFill>
          <a:ln w="9525">
            <a:solidFill>
              <a:srgbClr val="1A2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526280"/>
            <a:ext cx="5394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[完了]  AIチャット（Claude Sonnet 4.6）— 稼働中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5029200"/>
            <a:ext cx="5669280" cy="420624"/>
          </a:xfrm>
          <a:prstGeom prst="roundRect">
            <a:avLst>
              <a:gd name="adj" fmla="val 26087"/>
            </a:avLst>
          </a:prstGeom>
          <a:solidFill>
            <a:srgbClr val="0A1520"/>
          </a:solidFill>
          <a:ln w="9525">
            <a:solidFill>
              <a:srgbClr val="1A2A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5029200"/>
            <a:ext cx="5394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[完了]  店舗一覧 / マップ / フィルター — 実装済み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5532120"/>
            <a:ext cx="5669280" cy="420624"/>
          </a:xfrm>
          <a:prstGeom prst="roundRect">
            <a:avLst>
              <a:gd name="adj" fmla="val 26087"/>
            </a:avLst>
          </a:prstGeom>
          <a:solidFill>
            <a:srgbClr val="0A1520"/>
          </a:solidFill>
          <a:ln w="9525">
            <a:solidFill>
              <a:srgbClr val="1A2A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5532120"/>
            <a:ext cx="5394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[完了]  ユーザー認証 / お気に入り / 訪問ログ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09360" y="4526280"/>
            <a:ext cx="5669280" cy="420624"/>
          </a:xfrm>
          <a:prstGeom prst="roundRect">
            <a:avLst>
              <a:gd name="adj" fmla="val 26087"/>
            </a:avLst>
          </a:prstGeom>
          <a:solidFill>
            <a:srgbClr val="0A1520"/>
          </a:solidFill>
          <a:ln w="9525">
            <a:solidFill>
              <a:srgbClr val="1A2A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4526280"/>
            <a:ext cx="5394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[完了]  管理パネル（店舗管理＋アナリティクス）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09360" y="5029200"/>
            <a:ext cx="5669280" cy="420624"/>
          </a:xfrm>
          <a:prstGeom prst="roundRect">
            <a:avLst>
              <a:gd name="adj" fmla="val 26087"/>
            </a:avLst>
          </a:prstGeom>
          <a:solidFill>
            <a:srgbClr val="0A1520"/>
          </a:solidFill>
          <a:ln w="9525">
            <a:solidFill>
              <a:srgbClr val="1A2A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5029200"/>
            <a:ext cx="5394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[完了]  セキュリティ（APIキー完全サーバー分離）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09360" y="5532120"/>
            <a:ext cx="5669280" cy="420624"/>
          </a:xfrm>
          <a:prstGeom prst="roundRect">
            <a:avLst>
              <a:gd name="adj" fmla="val 26087"/>
            </a:avLst>
          </a:prstGeom>
          <a:solidFill>
            <a:srgbClr val="0A1520"/>
          </a:solidFill>
          <a:ln w="9525">
            <a:solidFill>
              <a:srgbClr val="1A2A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46520" y="5532120"/>
            <a:ext cx="5394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[完了]  Vercel本番稼働: kobe-guide.vercel.app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972800" y="64922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474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970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技術スタック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7772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モダンなスタックで</a:t>
            </a:r>
            <a:endParaRPr lang="en-US" sz="2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スケールに備える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719072"/>
            <a:ext cx="731520" cy="50292"/>
          </a:xfrm>
          <a:prstGeom prst="rect">
            <a:avLst/>
          </a:prstGeom>
          <a:solidFill>
            <a:srgbClr val="C8970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2011680"/>
            <a:ext cx="3657600" cy="1097280"/>
          </a:xfrm>
          <a:prstGeom prst="roundRect">
            <a:avLst>
              <a:gd name="adj" fmla="val 10000"/>
            </a:avLst>
          </a:prstGeom>
          <a:solidFill>
            <a:srgbClr val="0A1520"/>
          </a:solidFill>
          <a:ln w="9525">
            <a:solidFill>
              <a:srgbClr val="1A2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1488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57860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App Router / SSR / Edge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2011680"/>
            <a:ext cx="3657600" cy="1097280"/>
          </a:xfrm>
          <a:prstGeom prst="roundRect">
            <a:avLst>
              <a:gd name="adj" fmla="val 10000"/>
            </a:avLst>
          </a:prstGeom>
          <a:solidFill>
            <a:srgbClr val="0A1520"/>
          </a:solidFill>
          <a:ln w="9525">
            <a:solidFill>
              <a:srgbClr val="1A2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21488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Sonnet 4.6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26280" y="257860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Anthropic API / AIチャット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273552"/>
            <a:ext cx="3657600" cy="1097280"/>
          </a:xfrm>
          <a:prstGeom prst="roundRect">
            <a:avLst>
              <a:gd name="adj" fmla="val 10000"/>
            </a:avLst>
          </a:prstGeom>
          <a:solidFill>
            <a:srgbClr val="0A1520"/>
          </a:solidFill>
          <a:ln w="9525">
            <a:solidFill>
              <a:srgbClr val="1A2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41071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38404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PostgreSQL + Auth + RLS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7680" y="3273552"/>
            <a:ext cx="3657600" cy="1097280"/>
          </a:xfrm>
          <a:prstGeom prst="roundRect">
            <a:avLst>
              <a:gd name="adj" fmla="val 10000"/>
            </a:avLst>
          </a:prstGeom>
          <a:solidFill>
            <a:srgbClr val="0A1520"/>
          </a:solidFill>
          <a:ln w="9525">
            <a:solidFill>
              <a:srgbClr val="1A2A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26280" y="341071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Leaflet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26280" y="38404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インタラクティブマップ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535424"/>
            <a:ext cx="3657600" cy="1097280"/>
          </a:xfrm>
          <a:prstGeom prst="roundRect">
            <a:avLst>
              <a:gd name="adj" fmla="val 10000"/>
            </a:avLst>
          </a:prstGeom>
          <a:solidFill>
            <a:srgbClr val="0A1520"/>
          </a:solidFill>
          <a:ln w="9525">
            <a:solidFill>
              <a:srgbClr val="1A2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672584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Places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" y="51023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店舗データ＋写真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97680" y="4535424"/>
            <a:ext cx="3657600" cy="1097280"/>
          </a:xfrm>
          <a:prstGeom prst="roundRect">
            <a:avLst>
              <a:gd name="adj" fmla="val 10000"/>
            </a:avLst>
          </a:prstGeom>
          <a:solidFill>
            <a:srgbClr val="0A1520"/>
          </a:solidFill>
          <a:ln w="9525">
            <a:solidFill>
              <a:srgbClr val="1A2A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26280" y="4672584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26280" y="51023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エッジデプロイ / CDN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321040" y="1280160"/>
            <a:ext cx="3657600" cy="5577840"/>
          </a:xfrm>
          <a:prstGeom prst="roundRect">
            <a:avLst>
              <a:gd name="adj" fmla="val 3000"/>
            </a:avLst>
          </a:prstGeom>
          <a:solidFill>
            <a:srgbClr val="1A1000"/>
          </a:solidFill>
          <a:ln w="9525">
            <a:solidFill>
              <a:srgbClr val="C8970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0" y="14630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970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競合優位性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503920" y="205740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DDDD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立ち飲みニッチ x AI の組合せ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503920" y="288036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DDDD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インバウンド多言語対応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503920" y="370332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DDDD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APIキーを完全サーバーサイド化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503920" y="452628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DDDD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店舗管理＋アナリティクス内蔵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503920" y="534924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DDDD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限界費用ゼロでスケール可能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972800" y="64922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F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474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970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ロードマップ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神戸から — 日本全国の夜へ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731520" cy="50292"/>
          </a:xfrm>
          <a:prstGeom prst="rect">
            <a:avLst/>
          </a:prstGeom>
          <a:solidFill>
            <a:srgbClr val="C8970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6304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970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 Q1-Q2  --  神戸フェーズ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217920" y="146304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970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 Q3-Q4  --  展開フェーズ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384048" cy="384048"/>
          </a:xfrm>
          <a:prstGeom prst="ellipse">
            <a:avLst/>
          </a:prstGeom>
          <a:solidFill>
            <a:srgbClr val="C8970A"/>
          </a:solidFill>
          <a:ln w="12700">
            <a:solidFill>
              <a:srgbClr val="C897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06654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MVP本番ローンチ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0" y="2066544"/>
            <a:ext cx="1417320" cy="274320"/>
          </a:xfrm>
          <a:prstGeom prst="roundRect">
            <a:avLst>
              <a:gd name="adj" fmla="val 40000"/>
            </a:avLst>
          </a:prstGeom>
          <a:solidFill>
            <a:srgbClr val="1A1000"/>
          </a:solidFill>
          <a:ln w="9525">
            <a:solidFill>
              <a:srgbClr val="C897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0" y="2066544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C0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完了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7280" y="245059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AIチャット / 店舗一覧 / マップ / 管理パネル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13232" y="2496312"/>
            <a:ext cx="45720" cy="914400"/>
          </a:xfrm>
          <a:prstGeom prst="rect">
            <a:avLst/>
          </a:prstGeom>
          <a:solidFill>
            <a:srgbClr val="2A3A4A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584448"/>
            <a:ext cx="384048" cy="384048"/>
          </a:xfrm>
          <a:prstGeom prst="ellipse">
            <a:avLst/>
          </a:prstGeom>
          <a:solidFill>
            <a:srgbClr val="1A2A3A"/>
          </a:solidFill>
          <a:ln w="12700">
            <a:solidFill>
              <a:srgbClr val="C8970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675888"/>
            <a:ext cx="201168" cy="201168"/>
          </a:xfrm>
          <a:prstGeom prst="ellipse">
            <a:avLst/>
          </a:prstGeom>
          <a:solidFill>
            <a:srgbClr val="C8970A">
              <a:alpha val="5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354787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有料掲載プラン開始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114800" y="3547872"/>
            <a:ext cx="1417320" cy="274320"/>
          </a:xfrm>
          <a:prstGeom prst="roundRect">
            <a:avLst>
              <a:gd name="adj" fmla="val 40000"/>
            </a:avLst>
          </a:prstGeom>
          <a:solidFill>
            <a:srgbClr val="003A00"/>
          </a:solidFill>
          <a:ln w="9525">
            <a:solidFill>
              <a:srgbClr val="C897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0" y="354787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C0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 Q2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" y="393192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店舗へのプレミアムプランの営業・販売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13232" y="3977640"/>
            <a:ext cx="45720" cy="914400"/>
          </a:xfrm>
          <a:prstGeom prst="rect">
            <a:avLst/>
          </a:prstGeom>
          <a:solidFill>
            <a:srgbClr val="2A3A4A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5065776"/>
            <a:ext cx="384048" cy="384048"/>
          </a:xfrm>
          <a:prstGeom prst="ellipse">
            <a:avLst/>
          </a:prstGeom>
          <a:solidFill>
            <a:srgbClr val="1A2A3A"/>
          </a:solidFill>
          <a:ln w="12700">
            <a:solidFill>
              <a:srgbClr val="C8970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5157216"/>
            <a:ext cx="201168" cy="201168"/>
          </a:xfrm>
          <a:prstGeom prst="ellipse">
            <a:avLst/>
          </a:prstGeom>
          <a:solidFill>
            <a:srgbClr val="C8970A">
              <a:alpha val="5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097280" y="50292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SEO / 流入拡大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114800" y="5029200"/>
            <a:ext cx="1417320" cy="274320"/>
          </a:xfrm>
          <a:prstGeom prst="roundRect">
            <a:avLst>
              <a:gd name="adj" fmla="val 40000"/>
            </a:avLst>
          </a:prstGeom>
          <a:solidFill>
            <a:srgbClr val="003A00"/>
          </a:solidFill>
          <a:ln w="9525">
            <a:solidFill>
              <a:srgbClr val="C8970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0" y="502920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C0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 Q2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7280" y="541324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「神戸 立ち飲み」検索でトップランクを狙う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309360" y="2103120"/>
            <a:ext cx="384048" cy="384048"/>
          </a:xfrm>
          <a:prstGeom prst="ellipse">
            <a:avLst/>
          </a:prstGeom>
          <a:solidFill>
            <a:srgbClr val="1A2A3A"/>
          </a:solidFill>
          <a:ln w="12700">
            <a:solidFill>
              <a:srgbClr val="C8970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0" y="2194560"/>
            <a:ext cx="201168" cy="201168"/>
          </a:xfrm>
          <a:prstGeom prst="ellipse">
            <a:avLst/>
          </a:prstGeom>
          <a:solidFill>
            <a:srgbClr val="C8970A">
              <a:alpha val="5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0" y="206654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大阪・京都への展開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9875520" y="2066544"/>
            <a:ext cx="1417320" cy="274320"/>
          </a:xfrm>
          <a:prstGeom prst="roundRect">
            <a:avLst>
              <a:gd name="adj" fmla="val 40000"/>
            </a:avLst>
          </a:prstGeom>
          <a:solidFill>
            <a:srgbClr val="001A3A"/>
          </a:solidFill>
          <a:ln w="9525">
            <a:solidFill>
              <a:srgbClr val="C8970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75520" y="2066544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C0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 Q3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858000" y="245059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関西主要都市への横展開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473952" y="2496312"/>
            <a:ext cx="45720" cy="914400"/>
          </a:xfrm>
          <a:prstGeom prst="rect">
            <a:avLst/>
          </a:prstGeom>
          <a:solidFill>
            <a:srgbClr val="2A3A4A"/>
          </a:solidFill>
          <a:ln/>
        </p:spPr>
      </p:sp>
      <p:sp>
        <p:nvSpPr>
          <p:cNvPr id="34" name="Shape 32"/>
          <p:cNvSpPr/>
          <p:nvPr/>
        </p:nvSpPr>
        <p:spPr>
          <a:xfrm>
            <a:off x="6309360" y="3584448"/>
            <a:ext cx="384048" cy="384048"/>
          </a:xfrm>
          <a:prstGeom prst="ellipse">
            <a:avLst/>
          </a:prstGeom>
          <a:solidFill>
            <a:srgbClr val="1A2A3A"/>
          </a:solidFill>
          <a:ln w="12700">
            <a:solidFill>
              <a:srgbClr val="C8970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0" y="3675888"/>
            <a:ext cx="201168" cy="201168"/>
          </a:xfrm>
          <a:prstGeom prst="ellipse">
            <a:avLst/>
          </a:prstGeom>
          <a:solidFill>
            <a:srgbClr val="C8970A">
              <a:alpha val="5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0" y="354787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予約・クーポン機能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9875520" y="3547872"/>
            <a:ext cx="1417320" cy="274320"/>
          </a:xfrm>
          <a:prstGeom prst="roundRect">
            <a:avLst>
              <a:gd name="adj" fmla="val 40000"/>
            </a:avLst>
          </a:prstGeom>
          <a:solidFill>
            <a:srgbClr val="001A3A"/>
          </a:solidFill>
          <a:ln w="9525">
            <a:solidFill>
              <a:srgbClr val="C8970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875520" y="354787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C0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 Q3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858000" y="393192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紹介手数料モデルの追加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473952" y="3977640"/>
            <a:ext cx="45720" cy="914400"/>
          </a:xfrm>
          <a:prstGeom prst="rect">
            <a:avLst/>
          </a:prstGeom>
          <a:solidFill>
            <a:srgbClr val="2A3A4A"/>
          </a:solidFill>
          <a:ln/>
        </p:spPr>
      </p:sp>
      <p:sp>
        <p:nvSpPr>
          <p:cNvPr id="41" name="Shape 39"/>
          <p:cNvSpPr/>
          <p:nvPr/>
        </p:nvSpPr>
        <p:spPr>
          <a:xfrm>
            <a:off x="6309360" y="5065776"/>
            <a:ext cx="384048" cy="384048"/>
          </a:xfrm>
          <a:prstGeom prst="ellipse">
            <a:avLst/>
          </a:prstGeom>
          <a:solidFill>
            <a:srgbClr val="1A2A3A"/>
          </a:solidFill>
          <a:ln w="12700">
            <a:solidFill>
              <a:srgbClr val="C8970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00800" y="5157216"/>
            <a:ext cx="201168" cy="201168"/>
          </a:xfrm>
          <a:prstGeom prst="ellipse">
            <a:avLst/>
          </a:prstGeom>
          <a:solidFill>
            <a:srgbClr val="C8970A">
              <a:alpha val="5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858000" y="50292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B2B APIライセンス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9875520" y="5029200"/>
            <a:ext cx="1417320" cy="274320"/>
          </a:xfrm>
          <a:prstGeom prst="roundRect">
            <a:avLst>
              <a:gd name="adj" fmla="val 40000"/>
            </a:avLst>
          </a:prstGeom>
          <a:solidFill>
            <a:srgbClr val="1A001A"/>
          </a:solidFill>
          <a:ln w="9525">
            <a:solidFill>
              <a:srgbClr val="C8970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875520" y="502920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C0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 Q4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858000" y="541324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旅行会社・ホテル向けAPIの提供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10972800" y="64922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474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970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資金調達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投資家への提案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731520" cy="50292"/>
          </a:xfrm>
          <a:prstGeom prst="rect">
            <a:avLst/>
          </a:prstGeom>
          <a:solidFill>
            <a:srgbClr val="C8970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2588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TBD</a:t>
            </a:r>
            <a:endParaRPr lang="en-US" sz="90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調達金額（詳細は別途ご相談）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970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資金使途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886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エンジニアリング・採用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0" y="4032504"/>
            <a:ext cx="5029200" cy="182880"/>
          </a:xfrm>
          <a:prstGeom prst="roundRect">
            <a:avLst>
              <a:gd name="adj" fmla="val 30000"/>
            </a:avLst>
          </a:prstGeom>
          <a:solidFill>
            <a:srgbClr val="1A2A3A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0" y="4032504"/>
            <a:ext cx="2011680" cy="182880"/>
          </a:xfrm>
          <a:prstGeom prst="roundRect">
            <a:avLst>
              <a:gd name="adj" fmla="val 30000"/>
            </a:avLst>
          </a:prstGeom>
          <a:solidFill>
            <a:srgbClr val="C8970A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0" y="38862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50799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マーケティング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0" y="4654296"/>
            <a:ext cx="5029200" cy="182880"/>
          </a:xfrm>
          <a:prstGeom prst="roundRect">
            <a:avLst>
              <a:gd name="adj" fmla="val 30000"/>
            </a:avLst>
          </a:prstGeom>
          <a:solidFill>
            <a:srgbClr val="1A2A3A"/>
          </a:solidFill>
          <a:ln/>
        </p:spPr>
      </p:sp>
      <p:sp>
        <p:nvSpPr>
          <p:cNvPr id="15" name="Shape 13"/>
          <p:cNvSpPr/>
          <p:nvPr/>
        </p:nvSpPr>
        <p:spPr>
          <a:xfrm>
            <a:off x="3200400" y="4654296"/>
            <a:ext cx="1508760" cy="182880"/>
          </a:xfrm>
          <a:prstGeom prst="roundRect">
            <a:avLst>
              <a:gd name="adj" fmla="val 30000"/>
            </a:avLst>
          </a:prstGeom>
          <a:solidFill>
            <a:srgbClr val="C8970A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4507992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5129784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関西圏への展開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00400" y="5276088"/>
            <a:ext cx="5029200" cy="182880"/>
          </a:xfrm>
          <a:prstGeom prst="roundRect">
            <a:avLst>
              <a:gd name="adj" fmla="val 30000"/>
            </a:avLst>
          </a:prstGeom>
          <a:solidFill>
            <a:srgbClr val="1A2A3A"/>
          </a:solidFill>
          <a:ln/>
        </p:spPr>
      </p:sp>
      <p:sp>
        <p:nvSpPr>
          <p:cNvPr id="19" name="Shape 17"/>
          <p:cNvSpPr/>
          <p:nvPr/>
        </p:nvSpPr>
        <p:spPr>
          <a:xfrm>
            <a:off x="3200400" y="5276088"/>
            <a:ext cx="1005840" cy="182880"/>
          </a:xfrm>
          <a:prstGeom prst="roundRect">
            <a:avLst>
              <a:gd name="adj" fmla="val 30000"/>
            </a:avLst>
          </a:prstGeom>
          <a:solidFill>
            <a:srgbClr val="C8970A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0" y="5129784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575157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インフラ・運営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00400" y="5897880"/>
            <a:ext cx="5029200" cy="182880"/>
          </a:xfrm>
          <a:prstGeom prst="roundRect">
            <a:avLst>
              <a:gd name="adj" fmla="val 30000"/>
            </a:avLst>
          </a:prstGeom>
          <a:solidFill>
            <a:srgbClr val="1A2A3A"/>
          </a:solidFill>
          <a:ln/>
        </p:spPr>
      </p:sp>
      <p:sp>
        <p:nvSpPr>
          <p:cNvPr id="23" name="Shape 21"/>
          <p:cNvSpPr/>
          <p:nvPr/>
        </p:nvSpPr>
        <p:spPr>
          <a:xfrm>
            <a:off x="3200400" y="5897880"/>
            <a:ext cx="502920" cy="182880"/>
          </a:xfrm>
          <a:prstGeom prst="roundRect">
            <a:avLst>
              <a:gd name="adj" fmla="val 30000"/>
            </a:avLst>
          </a:prstGeom>
          <a:solidFill>
            <a:srgbClr val="C8970A"/>
          </a:solidFill>
          <a:ln/>
        </p:spPr>
      </p:sp>
      <p:sp>
        <p:nvSpPr>
          <p:cNvPr id="24" name="Text 22"/>
          <p:cNvSpPr/>
          <p:nvPr/>
        </p:nvSpPr>
        <p:spPr>
          <a:xfrm>
            <a:off x="8412480" y="5751576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686800" y="1280160"/>
            <a:ext cx="3291840" cy="5394960"/>
          </a:xfrm>
          <a:prstGeom prst="roundRect">
            <a:avLst>
              <a:gd name="adj" fmla="val 3333"/>
            </a:avLst>
          </a:prstGeom>
          <a:solidFill>
            <a:srgbClr val="1A1000"/>
          </a:solidFill>
          <a:ln w="9525">
            <a:solidFill>
              <a:srgbClr val="C897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78240" y="15087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970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なぜ投資すべきか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778240" y="210312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DDDD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日本初の立ち飲みAIガイド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778240" y="29260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DDDD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インバウンド回復の追い風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778240" y="374904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DDDD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MVP稼働済み・スケール準備完了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778240" y="457200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DDDD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小さく始めて全国展開へ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778240" y="539496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DDDD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AI×地域知識の参入障壁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972800" y="64922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0" y="457200"/>
            <a:ext cx="8229600" cy="6400800"/>
          </a:xfrm>
          <a:prstGeom prst="ellipse">
            <a:avLst/>
          </a:prstGeom>
          <a:solidFill>
            <a:srgbClr val="1A0800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474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970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連絡先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0" y="1097280"/>
            <a:ext cx="1216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神戸の夜を、一緒に変えよう。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0" y="2103120"/>
            <a:ext cx="1216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change Kobe's night --- together.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029200" y="3063240"/>
            <a:ext cx="2103120" cy="54864"/>
          </a:xfrm>
          <a:prstGeom prst="rect">
            <a:avLst/>
          </a:prstGeom>
          <a:solidFill>
            <a:srgbClr val="C8970A"/>
          </a:solidFill>
          <a:ln/>
        </p:spPr>
      </p:sp>
      <p:sp>
        <p:nvSpPr>
          <p:cNvPr id="8" name="Text 6"/>
          <p:cNvSpPr/>
          <p:nvPr/>
        </p:nvSpPr>
        <p:spPr>
          <a:xfrm>
            <a:off x="0" y="3566160"/>
            <a:ext cx="1216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kobe-guide.vercel.app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474720" y="4663440"/>
            <a:ext cx="5212080" cy="685800"/>
          </a:xfrm>
          <a:prstGeom prst="roundRect">
            <a:avLst>
              <a:gd name="adj" fmla="val 16000"/>
            </a:avLst>
          </a:prstGeom>
          <a:solidFill>
            <a:srgbClr val="C8970A"/>
          </a:solidFill>
          <a:ln w="9525">
            <a:solidFill>
              <a:srgbClr val="C897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4663440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ライブデモを見る  --  kobe-guide.vercel.app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0" y="457200"/>
            <a:ext cx="12161520" cy="640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FFFFFF">
                    <a:alpha val="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KOBE</a:t>
            </a:r>
            <a:endParaRPr lang="en-US" sz="20000" dirty="0"/>
          </a:p>
        </p:txBody>
      </p:sp>
      <p:sp>
        <p:nvSpPr>
          <p:cNvPr id="12" name="Text 10"/>
          <p:cNvSpPr/>
          <p:nvPr/>
        </p:nvSpPr>
        <p:spPr>
          <a:xfrm>
            <a:off x="10972800" y="64922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神戸立ち飲みマップ 投資家向けピッチデック 2026</dc:title>
  <dc:subject>PptxGenJS Presentation</dc:subject>
  <dc:creator>NexusAI</dc:creator>
  <cp:lastModifiedBy>NexusAI</cp:lastModifiedBy>
  <cp:revision>1</cp:revision>
  <dcterms:created xsi:type="dcterms:W3CDTF">2026-04-14T04:34:55Z</dcterms:created>
  <dcterms:modified xsi:type="dcterms:W3CDTF">2026-04-14T04:34:55Z</dcterms:modified>
</cp:coreProperties>
</file>